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spc="180">
                <a:solidFill>
                  <a:srgbClr val="7C828F"/>
                </a:solidFill>
                <a:latin typeface="Menlo"/>
              </a:rPr>
              <a:t>TAKE-HOME SUBMISSION  ·  STAFF PRODUCT MANAGER, AI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0" i="0">
                <a:solidFill>
                  <a:srgbClr val="16181D"/>
                </a:solidFill>
                <a:latin typeface="Palatino"/>
              </a:rPr>
              <a:t>DecisionLens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0" i="1">
                <a:solidFill>
                  <a:srgbClr val="4A4F5A"/>
                </a:solidFill>
                <a:latin typeface="Palatino"/>
              </a:rPr>
              <a:t>An agent that interrogates a product decision
instead of recommending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8686800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Menlo"/>
              </a:rPr>
              <a:t>Raj Pasupathy</a:t>
            </a:r>
            <a:r>
              <a:rPr sz="1100" b="0" i="0">
                <a:solidFill>
                  <a:srgbClr val="7C828F"/>
                </a:solidFill>
                <a:latin typeface="Menlo"/>
              </a:rPr>
              <a:t>        11 cases · claude-opus-5        make setup &amp;&amp; make demo        Runs offline, no API 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1 / THE PROBLEM I CHOSE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 i="0">
                <a:solidFill>
                  <a:srgbClr val="16181D"/>
                </a:solidFill>
                <a:latin typeface="Palatino"/>
              </a:rPr>
              <a:t>The hardest problem in PM enablement is trust, not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60350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 i="0">
                <a:solidFill>
                  <a:srgbClr val="4A4F5A"/>
                </a:solidFill>
                <a:latin typeface="Helvetica Neue"/>
              </a:rPr>
              <a:t>A PM can get an AI recommendation today. What they cannot get is the confidence to </a:t>
            </a:r>
            <a:r>
              <a:rPr sz="1500" b="1" i="0">
                <a:solidFill>
                  <a:srgbClr val="16181D"/>
                </a:solidFill>
                <a:latin typeface="Helvetica Neue"/>
              </a:rPr>
              <a:t>stake a roadmap on it in front of leadership</a:t>
            </a:r>
            <a:r>
              <a:rPr sz="1500" b="0" i="0">
                <a:solidFill>
                  <a:srgbClr val="4A4F5A"/>
                </a:solidFill>
                <a:latin typeface="Helvetica Neue"/>
              </a:rPr>
              <a:t>. That gap explains the pattern everyone observes: heavy AI use for drafting, almost none for decisions.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 i="0">
                <a:solidFill>
                  <a:srgbClr val="4A4F5A"/>
                </a:solidFill>
                <a:latin typeface="Helvetica Neue"/>
              </a:rPr>
              <a:t>The price of that gap is </a:t>
            </a:r>
            <a:r>
              <a:rPr sz="1500" b="1" i="0">
                <a:solidFill>
                  <a:srgbClr val="16181D"/>
                </a:solidFill>
                <a:latin typeface="Helvetica Neue"/>
              </a:rPr>
              <a:t>verification cost</a:t>
            </a:r>
            <a:r>
              <a:rPr sz="1500" b="0" i="0">
                <a:solidFill>
                  <a:srgbClr val="4A4F5A"/>
                </a:solidFill>
                <a:latin typeface="Helvetica Neue"/>
              </a:rPr>
              <a:t>. If a PM cannot tell where a claim came from, which conclusions rest on assumption, or what the model left out, they have not saved work — they have moved it from analysis into 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828800"/>
            <a:ext cx="28575" cy="173736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4023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6181D"/>
                </a:solidFill>
                <a:latin typeface="Palatino"/>
              </a:rPr>
              <a:t>So the agent should not produce a better memo. It should produce a brief a sceptic can check in ten minutes — and refuse to certify its own work when it cannot.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3977639"/>
            <a:ext cx="4297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420624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 i="0">
                <a:solidFill>
                  <a:srgbClr val="B4451F"/>
                </a:solidFill>
                <a:latin typeface="Helvetica Neue"/>
              </a:rPr>
              <a:t>One framing I rejected was my own.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This began as “PMs have weak evidence.” That is a perennial PM-craft problem, not an AI-adoption one. Changing it was the most consequential decision in the project — recorded as D3/D4.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2 / THE SITUATION, IN ONE PARAGRAPH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 i="0">
                <a:solidFill>
                  <a:srgbClr val="16181D"/>
                </a:solidFill>
                <a:latin typeface="Palatino"/>
              </a:rPr>
              <a:t>What the demo actually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778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100" b="0" i="0">
                <a:solidFill>
                  <a:srgbClr val="4A4F5A"/>
                </a:solidFill>
                <a:latin typeface="Helvetica Neue"/>
              </a:rPr>
              <a:t>You are a PM at a delivery company. First-attempt delivery success sits at </a:t>
            </a:r>
            <a:r>
              <a:rPr sz="2100" b="1" i="0">
                <a:solidFill>
                  <a:srgbClr val="16181D"/>
                </a:solidFill>
                <a:latin typeface="Helvetica Neue"/>
              </a:rPr>
              <a:t>91% against a 93% goal</a:t>
            </a:r>
            <a:r>
              <a:rPr sz="2100" b="0" i="0">
                <a:solidFill>
                  <a:srgbClr val="4A4F5A"/>
                </a:solidFill>
                <a:latin typeface="Helvetica Neue"/>
              </a:rPr>
              <a:t>, and delivery exceptions are the largest driver of support contacts. Nine documents sit in a folder.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8778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3931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16181D"/>
                </a:solidFill>
                <a:latin typeface="Palatino"/>
              </a:rPr>
              <a:t>Which intervention should the team prioritize to reduce delivery exceptions?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6344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i="0">
                <a:solidFill>
                  <a:srgbClr val="4A4F5A"/>
                </a:solidFill>
                <a:latin typeface="Helvetica Neue"/>
              </a:rPr>
              <a:t>That question, the desired outcome and the as-of date all come from </a:t>
            </a:r>
            <a:r>
              <a:rPr sz="1200" b="0" i="0">
                <a:solidFill>
                  <a:srgbClr val="16181D"/>
                </a:solidFill>
                <a:latin typeface="Menlo"/>
              </a:rPr>
              <a:t>case_manifest.json</a:t>
            </a:r>
            <a:r>
              <a:rPr sz="1300" b="0" i="0">
                <a:solidFill>
                  <a:srgbClr val="4A4F5A"/>
                </a:solidFill>
                <a:latin typeface="Helvetica Neue"/>
              </a:rPr>
              <a:t> — so the agent knows what it is being asked and can tell stale evidence from current.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i="1">
                <a:solidFill>
                  <a:srgbClr val="7C828F"/>
                </a:solidFill>
                <a:latin typeface="Helvetica Neue"/>
              </a:rPr>
              <a:t>Every file is synthetic and fictional. No real Walmart data is used and none is claimed.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3 / 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Nine files, deliberately made to disagree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4A4F5A"/>
                </a:solidFill>
                <a:latin typeface="Helvetica Neue"/>
              </a:rPr>
              <a:t>About 11,500 characters — the kind of pile a PM actually faces. Each file is tagged with its type, owner and dates, because who wrote it and when is half of how you weigh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112264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0752" y="2112264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3832" y="211226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8312" y="2112264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WHAT IT CONTRIBUTES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68296"/>
            <a:ext cx="10637215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business_objectives.md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450592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strategy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245059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450592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The bar: 93% success, −20% contacts, cost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79192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761488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product_metrics.csv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761488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quantitative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2761488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61488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Exception rates by category and 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90088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072384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support_ticket_summaries.csv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072384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operational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307238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support-ops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072384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What customers actually contacted us about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00984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383280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customer_feedback.csv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3383280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qualitative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3383280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3383280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Verbatim comments — the rows the challenger later audits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611880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3694176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prior_experiments.md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3694176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experiment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369417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694176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A notification pilot whose own write-up disclaims an effect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922776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4005072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prior_decisions.md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4005072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prior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400507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4005072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An FY25 call whose cost rationale has since been superseded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233672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4315968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stakeholder_notes.md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4315968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stakeholder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3832" y="4315968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312" y="4315968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Opinion, held apart from fact by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544568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4626864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technical_constraints.md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30752" y="4626864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strategy document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832" y="462686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4626864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What cannot ship this quarter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855464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" y="4937760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Menlo"/>
              </a:rPr>
              <a:t>governance_requirements.md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30752" y="4937760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governance 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13832" y="4937760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Helvetica Neue"/>
              </a:rPr>
              <a:t>legal-privacy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4937760"/>
            <a:ext cx="4242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Privacy limits on notifications and address 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422392"/>
            <a:ext cx="1063721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272" y="5586984"/>
            <a:ext cx="101251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A connector splits these into </a:t>
            </a:r>
            <a:r>
              <a:rPr sz="1200" b="1" i="0">
                <a:solidFill>
                  <a:srgbClr val="16181D"/>
                </a:solidFill>
                <a:latin typeface="Helvetica Neue"/>
              </a:rPr>
              <a:t>56 individually addressable records</a:t>
            </a:r>
            <a:r>
              <a:rPr sz="1200" b="0" i="0">
                <a:solidFill>
                  <a:srgbClr val="4A4F5A"/>
                </a:solidFill>
                <a:latin typeface="Helvetica Neue"/>
              </a:rPr>
              <a:t> — one per CSV row, one per paragraph. That is what makes a citation checkable: every claim points at a specific row, not at a file. The connector </a:t>
            </a:r>
            <a:r>
              <a:rPr sz="1200" b="1" i="0">
                <a:solidFill>
                  <a:srgbClr val="B4451F"/>
                </a:solidFill>
                <a:latin typeface="Helvetica Neue"/>
              </a:rPr>
              <a:t>retrieves and never interprets</a:t>
            </a:r>
            <a:r>
              <a:rPr sz="1200" b="0" i="0">
                <a:solidFill>
                  <a:srgbClr val="4A4F5A"/>
                </a:solidFill>
                <a:latin typeface="Helvetica Neue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4 / WHAT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One orchestrator, seven stages, fixed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4A4F5A"/>
                </a:solidFill>
                <a:latin typeface="Helvetica Neue"/>
              </a:rPr>
              <a:t>Deliberately not a multi-agent system: a PM who cannot follow what the tool did cannot verify it (decision D8). The counts are what this case produced — so any answer traces back to the stage that made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112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2112264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2112264"/>
            <a:ext cx="5111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THE QUESTION IT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2112264"/>
            <a:ext cx="2505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68296"/>
            <a:ext cx="10637215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450592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450592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Which records bear on the question?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2450592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56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92908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775204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775204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775204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Fact, assumption, opinion or constraint?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775204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37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099816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099816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Contradictions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3099816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Where do sources disagree — and what would settle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3099816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9 found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42132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424428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424428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Missing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424428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What is absent that would change the answer?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424428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19 gaps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666744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3749040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7592" y="3749040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Alternatives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3749040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What are the options, scored on each criterion?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749040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11 options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991356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4073652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7592" y="4073652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073652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Which option, at what confidence?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4073652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data_quality · 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15968"/>
            <a:ext cx="10637215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4398264"/>
            <a:ext cx="3108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C828F"/>
                </a:solidFill>
                <a:latin typeface="Menlo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7592" y="4398264"/>
            <a:ext cx="21396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B4451F"/>
                </a:solidFill>
                <a:latin typeface="Helvetica Neue"/>
              </a:rPr>
              <a:t>Challenger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3592" y="4398264"/>
            <a:ext cx="511149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Eight fixed attacks on the draft above.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4398264"/>
            <a:ext cx="250545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B4451F"/>
                </a:solidFill>
                <a:latin typeface="Menlo"/>
              </a:rPr>
              <a:t>1 error · 23 warnings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914900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5061204"/>
            <a:ext cx="29910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16181D"/>
                </a:solidFill>
                <a:latin typeface="Helvetica Neue"/>
              </a:rPr>
              <a:t>The challenger can only lower confidence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4A4F5A"/>
                </a:solidFill>
                <a:latin typeface="Helvetica Neue"/>
              </a:rPr>
              <a:t>Never raise it. That asymmetry is enforced in code.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9178" y="4914900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0346" y="5061204"/>
            <a:ext cx="29910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16181D"/>
                </a:solidFill>
                <a:latin typeface="Helvetica Neue"/>
              </a:rPr>
              <a:t>The guarantees are code, not prompting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4A4F5A"/>
                </a:solidFill>
                <a:latin typeface="Helvetica Neue"/>
              </a:rPr>
              <a:t>Citation spans matched against source text. A non-AI option and a no-build option are required — the brief is rejected without them.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1116" y="4914900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2284" y="5061204"/>
            <a:ext cx="29910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16181D"/>
                </a:solidFill>
                <a:latin typeface="Helvetica Neue"/>
              </a:rPr>
              <a:t>A failed stage degrades the brief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4A4F5A"/>
                </a:solidFill>
                <a:latin typeface="Helvetica Neue"/>
              </a:rPr>
              <a:t>It never aborts the run, so a wrong answer is attributable to a stage rather than to “the system.”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Palatino"/>
              </a:rPr>
              <a:t>Input · agent · model boundary · checks · output</a:t>
            </a:r>
          </a:p>
        </p:txBody>
      </p:sp>
      <p:pic>
        <p:nvPicPr>
          <p:cNvPr id="4" name="Picture 3" descr="decisionLen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953" y="1691640"/>
            <a:ext cx="7125788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60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Helvetica Neue"/>
              </a:rPr>
              <a:t>The model sits behind a vendor-neutral </a:t>
            </a:r>
            <a:r>
              <a:rPr sz="1100" b="0" i="0">
                <a:solidFill>
                  <a:srgbClr val="16181D"/>
                </a:solidFill>
                <a:latin typeface="Menlo"/>
              </a:rPr>
              <a:t>ModelProvider</a:t>
            </a:r>
            <a:r>
              <a:rPr sz="1150" b="0" i="0">
                <a:solidFill>
                  <a:srgbClr val="7C828F"/>
                </a:solidFill>
                <a:latin typeface="Helvetica Neue"/>
              </a:rPr>
              <a:t> with two interchangeable implementations — cached replay and a live Anthropic adapter — that the orchestrator cannot tell apart. That is why the demo runs offline and free, and why a live run is a two-line change in .env.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6 / THE MOMENT IT WORKS   ·   DEMO THIS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The tool blocks its own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993392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56 records · 37 claims · 9 contradictions ·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19 gaps · 11 alternatives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 i="0">
                <a:solidFill>
                  <a:srgbClr val="16181D"/>
                </a:solidFill>
                <a:latin typeface="Menlo"/>
              </a:rPr>
              <a:t>recommendation: data_quality (support: low)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checks: 1 error(s), 23 warning(s)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 i="0">
                <a:solidFill>
                  <a:srgbClr val="B4451F"/>
                </a:solidFill>
                <a:latin typeface="Menlo"/>
              </a:rPr>
              <a:t>This brief should not be acted on as it stands: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 i="0">
                <a:solidFill>
                  <a:srgbClr val="B4451F"/>
                </a:solidFill>
                <a:latin typeface="Menlo"/>
              </a:rPr>
              <a:t>  ! challenge_failed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14800"/>
            <a:ext cx="5623560" cy="1874519"/>
          </a:xfrm>
          <a:prstGeom prst="rect">
            <a:avLst/>
          </a:prstGeom>
          <a:solidFill>
            <a:srgbClr val="FB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4315968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The recommendation claimed “multiple post-exception comments describe entering the unit number at checkout.” The challenger checked all three cited rows.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 i="0">
                <a:solidFill>
                  <a:srgbClr val="B4451F"/>
                </a:solidFill>
                <a:latin typeface="Helvetica Neue"/>
              </a:rPr>
              <a:t>“Multiple” is n=1.</a:t>
            </a:r>
            <a:r>
              <a:rPr sz="1200" b="0" i="0">
                <a:solidFill>
                  <a:srgbClr val="4A4F5A"/>
                </a:solidFill>
                <a:latin typeface="Helvetica Neue"/>
              </a:rPr>
              <a:t>  It found two more errors on top of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140">
                <a:solidFill>
                  <a:srgbClr val="7C828F"/>
                </a:solidFill>
                <a:latin typeface="Menlo"/>
              </a:rPr>
              <a:t>THE THREE CITED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148840"/>
            <a:ext cx="28575" cy="74980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1736" y="2185416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16181D"/>
                </a:solidFill>
                <a:latin typeface="Menlo"/>
              </a:rPr>
              <a:t>EV-efad4673</a:t>
            </a:r>
            <a:r>
              <a:rPr sz="1000" b="0" i="0">
                <a:solidFill>
                  <a:srgbClr val="1F6F63"/>
                </a:solidFill>
                <a:latin typeface="Menlo"/>
              </a:rPr>
              <a:t>   supports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A4F5A"/>
                </a:solidFill>
                <a:latin typeface="Helvetica Neue"/>
              </a:rPr>
              <a:t>Mentions checkout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3017520"/>
            <a:ext cx="28575" cy="74980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3054096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16181D"/>
                </a:solidFill>
                <a:latin typeface="Menlo"/>
              </a:rPr>
              <a:t>EV-b26a6ee3</a:t>
            </a:r>
            <a:r>
              <a:rPr sz="1000" b="0" i="0">
                <a:solidFill>
                  <a:srgbClr val="B4451F"/>
                </a:solidFill>
                <a:latin typeface="Menlo"/>
              </a:rPr>
              <a:t>   does not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A4F5A"/>
                </a:solidFill>
                <a:latin typeface="Helvetica Neue"/>
              </a:rPr>
              <a:t>Only says the unit number was missing from the package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3886200"/>
            <a:ext cx="28575" cy="74980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3922776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16181D"/>
                </a:solidFill>
                <a:latin typeface="Menlo"/>
              </a:rPr>
              <a:t>EV-6750be5d</a:t>
            </a:r>
            <a:r>
              <a:rPr sz="1000" b="0" i="0">
                <a:solidFill>
                  <a:srgbClr val="B4451F"/>
                </a:solidFill>
                <a:latin typeface="Menlo"/>
              </a:rPr>
              <a:t>   does not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A4F5A"/>
                </a:solidFill>
                <a:latin typeface="Helvetica Neue"/>
              </a:rPr>
              <a:t>Driver could not find unit 4B; label showed street number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84632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I verified all three by hand. The challenger is right — and the error is </a:t>
            </a:r>
            <a:r>
              <a:rPr sz="1200" b="1" i="0">
                <a:solidFill>
                  <a:srgbClr val="16181D"/>
                </a:solidFill>
                <a:latin typeface="Helvetica Neue"/>
              </a:rPr>
              <a:t>left standing in the repository</a:t>
            </a:r>
            <a:r>
              <a:rPr sz="1200" b="0" i="0">
                <a:solidFill>
                  <a:srgbClr val="4A4F5A"/>
                </a:solidFill>
                <a:latin typeface="Helvetica Neue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 i="1">
                <a:solidFill>
                  <a:srgbClr val="7C828F"/>
                </a:solidFill>
                <a:latin typeface="Helvetica Neue"/>
              </a:rPr>
              <a:t>Removing it would mean weakening the check or re-running until the output flattered me, which is the habit this product argues against.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7 / DOES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Eleven cases, both arms,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4A4F5A"/>
                </a:solidFill>
                <a:latin typeface="Helvetica Neue"/>
              </a:rPr>
              <a:t>The baseline is a strong single model call — same evidence, same schema, same shared heuristics — so the comparison is about workflow, not about who was told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20370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2" y="2203704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DECISIONLENS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152" y="2203704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C828F"/>
                </a:solidFill>
                <a:latin typeface="Menlo"/>
              </a:rPr>
              <a:t>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59736"/>
            <a:ext cx="6583680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Contradiction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2" y="254203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F6F63"/>
                </a:solidFill>
                <a:latin typeface="Menlo"/>
              </a:rPr>
              <a:t>36/50 · 72.0%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254203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32/50 · 64.0%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2549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0779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— held out from prompt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290779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F6F63"/>
                </a:solidFill>
                <a:latin typeface="Menlo"/>
              </a:rPr>
              <a:t>32/46 · 69.6%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90779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28/46 · 60.9%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9125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27355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Citation 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2" y="327355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Menl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27355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99.8%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5701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63931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Options 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363931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F6F63"/>
                </a:solidFill>
                <a:latin typeface="Menlo"/>
              </a:rPr>
              <a:t>134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8152" y="363931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2277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00507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Helvetica Neue"/>
              </a:rPr>
              <a:t>Overstates its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2" y="400507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F6F63"/>
                </a:solidFill>
                <a:latin typeface="Menlo"/>
              </a:rPr>
              <a:t>0 of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8152" y="400507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1 of 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28853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37083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Understates its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2" y="437083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Menlo"/>
              </a:rPr>
              <a:t>6 of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437083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1 of 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54296"/>
            <a:ext cx="658368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473659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792" y="4736592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F5A"/>
                </a:solidFill>
                <a:latin typeface="Menlo"/>
              </a:rPr>
              <a:t>3.2×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736592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7C828F"/>
                </a:solidFill>
                <a:latin typeface="Menlo"/>
              </a:rPr>
              <a:t>1×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2148840"/>
            <a:ext cx="3429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b="1" i="0">
                <a:solidFill>
                  <a:srgbClr val="B4451F"/>
                </a:solidFill>
                <a:latin typeface="Helvetica Neue"/>
              </a:rPr>
              <a:t>The result I would defend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The baseline’s single overclaim happened on a case built so a thick corpus contains almost no load-bearing evidence. The defensible ceiling is low. The baseline read the volume and said moderate. DecisionLens said low.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50" b="1" i="0">
                <a:solidFill>
                  <a:srgbClr val="16181D"/>
                </a:solidFill>
                <a:latin typeface="Helvetica Neue"/>
              </a:rPr>
              <a:t>That is the failure this product exists to prevent, reproduced under measurement.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4709160"/>
            <a:ext cx="3429000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489204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b="1" i="0">
                <a:solidFill>
                  <a:srgbClr val="16181D"/>
                </a:solidFill>
                <a:latin typeface="Helvetica Neue"/>
              </a:rPr>
              <a:t>And what does not hold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50" b="0" i="0">
                <a:solidFill>
                  <a:srgbClr val="4A4F5A"/>
                </a:solidFill>
                <a:latin typeface="Helvetica Neue"/>
              </a:rPr>
              <a:t>Caution is not calibration — it under-claims on 6 of 11. Citation validity is not a differentiator. Eight points of recall is four items out of fifty, one run per case, no error bars. It costs 3.2× more, and the baseline won twice.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8 / STATED UP 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What this submission does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A4F5A"/>
                </a:solidFill>
                <a:latin typeface="Helvetica Neue"/>
              </a:rPr>
              <a:t>Recorded here rather than left to be discovered.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13432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Real PM research was not conducted.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Three PMs contacted, one replied. n=1 is an anecdote — and it partly cut against me. They use AI daily on decisions that matter and verify as a habit, so verification cost has not stopped them. They named a barrier I had not anticipated: some work is inherently human.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986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All evidence is synthetic,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authored by the same person who authored the answer keys.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29000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558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One of eleven cases is in-sample.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The other ten were written after the prompts were frozen at a recorded commit — checkable, but weaker than a genuine held-out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87368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6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One run per case.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No variance measurement, so no margin here has an error bar.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44568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71416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Enterprise connectors are documented, not implemented.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No identity model, no permission delegation, no cost control, no red-teaming.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01768"/>
            <a:ext cx="50292" cy="12801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16181D"/>
                </a:solidFill>
                <a:latin typeface="Helvetica Neue"/>
              </a:rPr>
              <a:t>Lagging business outcomes </a:t>
            </a:r>
            <a:r>
              <a:rPr sz="1250" b="0" i="0">
                <a:solidFill>
                  <a:srgbClr val="4A4F5A"/>
                </a:solidFill>
                <a:latin typeface="Helvetica Neue"/>
              </a:rPr>
              <a:t>cannot be demonstrated in a take-home and are not claimed.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9 / LIKELY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The four I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511286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03704"/>
            <a:ext cx="456422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0" i="1">
                <a:solidFill>
                  <a:srgbClr val="16181D"/>
                </a:solidFill>
                <a:latin typeface="Palatino"/>
              </a:rPr>
              <a:t>Is eight points of recall worth 3.2× the cost?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On recall alone, no — and I say so in the submission. The result I would defend is restraint: 0 of 11 overclaims, on a case built to induce exactly that failure. That is a mechanism, not an average.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1587" y="1965960"/>
            <a:ext cx="511286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75907" y="2203704"/>
            <a:ext cx="456422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0" i="1">
                <a:solidFill>
                  <a:srgbClr val="16181D"/>
                </a:solidFill>
                <a:latin typeface="Palatino"/>
              </a:rPr>
              <a:t>Is this an agent, or just a workflow?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One orchestrator making stage-to-stage control decisions over tool-using stages, where a failed stage degrades rather than halts. Single-agent was traded deliberately for verifiability, which is the entire thesis.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14800"/>
            <a:ext cx="511286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52544"/>
            <a:ext cx="456422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0" i="1">
                <a:solidFill>
                  <a:srgbClr val="16181D"/>
                </a:solidFill>
                <a:latin typeface="Palatino"/>
              </a:rPr>
              <a:t>Why a form rather than chat?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The brief has to be scanned by a sceptic — checks before the answer, a stable place for evidence, a visible record of what was left out. Chat is the wrong shape for verification and the right shape for framing, which is where it goes next over the same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4114800"/>
            <a:ext cx="511286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5907" y="4352544"/>
            <a:ext cx="456422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0" i="1">
                <a:solidFill>
                  <a:srgbClr val="16181D"/>
                </a:solidFill>
                <a:latin typeface="Palatino"/>
              </a:rPr>
              <a:t>What would you do next with a team?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Multiple runs per case for error bars. A held-out case set authored by someone else. A real PM study measuring verification time and unsupported claims found. And a cheaper model tier on the alternatives stage, which is a third of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60">
                <a:solidFill>
                  <a:srgbClr val="7C828F"/>
                </a:solidFill>
                <a:latin typeface="Menlo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6181D"/>
                </a:solidFill>
                <a:latin typeface="Palatino"/>
              </a:rPr>
              <a:t>Built to be checked, not just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0" i="0">
                <a:solidFill>
                  <a:srgbClr val="16181D"/>
                </a:solidFill>
                <a:latin typeface="Palatino"/>
              </a:rPr>
              <a:t>1,010 tests · 100% line coverage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The coverage gate is what is enforced; the count is whatever it is on the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5044287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167" y="201168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0" i="0">
                <a:solidFill>
                  <a:srgbClr val="16181D"/>
                </a:solidFill>
                <a:latin typeface="Palatino"/>
              </a:rPr>
              <a:t>Python 3.11+ · Pydantic v2 · mypy --strict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No agent framework, no vector database, no multi-agent system — all deliberately absent.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3246120"/>
            <a:ext cx="5044287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0" i="0">
                <a:solidFill>
                  <a:srgbClr val="16181D"/>
                </a:solidFill>
                <a:latin typeface="Palatino"/>
              </a:rPr>
              <a:t>Every run leaves a trace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Provider, model, prompt version and content fingerprint per stage, so a brief can be checked against the exact wording that produced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54880"/>
            <a:ext cx="5044287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352044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0" i="0">
                <a:solidFill>
                  <a:srgbClr val="16181D"/>
                </a:solidFill>
                <a:latin typeface="Palatino"/>
              </a:rPr>
              <a:t>Nothing in the cache is hand-written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4A4F5A"/>
                </a:solidFill>
                <a:latin typeface="Helvetica Neue"/>
              </a:rPr>
              <a:t>Every recorded response carries the model and the date it came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4754880"/>
            <a:ext cx="5044287" cy="9525"/>
          </a:xfrm>
          <a:prstGeom prst="rect">
            <a:avLst/>
          </a:prstGeom>
          <a:solidFill>
            <a:srgbClr val="E2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257800"/>
            <a:ext cx="106372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Menlo"/>
              </a:rPr>
              <a:t>github.com/raj-principal-arch/decisionlens-ai</a:t>
            </a:r>
            <a:r>
              <a:rPr sz="1100" b="0" i="0">
                <a:solidFill>
                  <a:srgbClr val="7C828F"/>
                </a:solidFill>
                <a:latin typeface="Menlo"/>
              </a:rPr>
              <a:t>        make demo · make ui · make check · make eval        All evidence synthetic and fictional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2E4EA"/>
                </a:solidFill>
                <a:latin typeface="Menlo"/>
              </a:rPr>
              <a:t>DecisionLens  ·  Staff Product Manager, AI Enablement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C828F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